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DM Sans" pitchFamily="2" charset="0"/>
      <p:regular r:id="rId13"/>
    </p:embeddedFont>
    <p:embeddedFont>
      <p:font typeface="DM Sans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14.04.2026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1.pn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49015" y="9686925"/>
            <a:ext cx="2153260" cy="514350"/>
            <a:chOff x="0" y="0"/>
            <a:chExt cx="2871013" cy="685800"/>
          </a:xfrm>
        </p:grpSpPr>
        <p:sp>
          <p:nvSpPr>
            <p:cNvPr id="7" name="Freeform 7" descr="preencoded.png">
              <a:hlinkClick r:id="rId4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CCD1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571684" y="212522"/>
            <a:ext cx="6574631" cy="9861947"/>
            <a:chOff x="0" y="0"/>
            <a:chExt cx="8766175" cy="13149262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8766175" cy="13149326"/>
            </a:xfrm>
            <a:custGeom>
              <a:avLst/>
              <a:gdLst/>
              <a:ahLst/>
              <a:cxnLst/>
              <a:rect l="l" t="t" r="r" b="b"/>
              <a:pathLst>
                <a:path w="8766175" h="13149326">
                  <a:moveTo>
                    <a:pt x="0" y="0"/>
                  </a:moveTo>
                  <a:lnTo>
                    <a:pt x="8766175" y="0"/>
                  </a:lnTo>
                  <a:lnTo>
                    <a:pt x="8766175" y="13149326"/>
                  </a:lnTo>
                  <a:lnTo>
                    <a:pt x="0" y="13149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92238" y="3185960"/>
            <a:ext cx="9445523" cy="1790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9C5461"/>
                </a:solidFill>
                <a:latin typeface="DM Sans Bold"/>
                <a:ea typeface="DM Sans Bold"/>
                <a:cs typeface="DM Sans Bold"/>
                <a:sym typeface="DM Sans Bold"/>
              </a:rPr>
              <a:t>Library Management System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38" y="5306911"/>
            <a:ext cx="9445523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Mini Project (BCA 2nd Semester)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2238" y="6079484"/>
            <a:ext cx="9445523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1">
                <a:solidFill>
                  <a:srgbClr val="4A4A4A"/>
                </a:solidFill>
                <a:latin typeface="DM Sans Bold"/>
                <a:ea typeface="DM Sans Bold"/>
                <a:cs typeface="DM Sans Bold"/>
                <a:sym typeface="DM Sans Bold"/>
              </a:rPr>
              <a:t>Palak Thakur</a:t>
            </a:r>
            <a:r>
              <a:rPr lang="en-US" sz="2187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 | Roll No: 25BCA10103</a:t>
            </a:r>
          </a:p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BCA, Chandigarh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45804" y="734016"/>
            <a:ext cx="6756054" cy="873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312" b="1">
                <a:solidFill>
                  <a:srgbClr val="9C5461"/>
                </a:solidFill>
                <a:latin typeface="DM Sans Bold"/>
                <a:ea typeface="DM Sans Bold"/>
                <a:cs typeface="DM Sans Bold"/>
                <a:sym typeface="DM Sans Bold"/>
              </a:rPr>
              <a:t>Project Overview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5804" y="3455641"/>
            <a:ext cx="5310188" cy="2187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A simple Library Management System developed using C programming language. The system manages book records through organized tracking of availability and issuance.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5804" y="5798496"/>
            <a:ext cx="5310188" cy="2187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Menu-driven interface allows users to add books, search records, issue and return books. Designed for learning purposes using linked lists and dynamic memory allocation.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924827" y="2283323"/>
            <a:ext cx="10426903" cy="6951164"/>
            <a:chOff x="0" y="0"/>
            <a:chExt cx="13902538" cy="9268219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13902562" cy="9268206"/>
            </a:xfrm>
            <a:custGeom>
              <a:avLst/>
              <a:gdLst/>
              <a:ahLst/>
              <a:cxnLst/>
              <a:rect l="l" t="t" r="r" b="b"/>
              <a:pathLst>
                <a:path w="13902562" h="9268206">
                  <a:moveTo>
                    <a:pt x="0" y="0"/>
                  </a:moveTo>
                  <a:lnTo>
                    <a:pt x="13902562" y="0"/>
                  </a:lnTo>
                  <a:lnTo>
                    <a:pt x="13902562" y="9268206"/>
                  </a:lnTo>
                  <a:lnTo>
                    <a:pt x="0" y="92682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1015756"/>
            <a:ext cx="7088238" cy="90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9C5461"/>
                </a:solidFill>
                <a:latin typeface="DM Sans Bold"/>
                <a:ea typeface="DM Sans Bold"/>
                <a:cs typeface="DM Sans Bold"/>
                <a:sym typeface="DM Sans Bold"/>
              </a:rPr>
              <a:t>Project Objectives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87476" y="2483053"/>
            <a:ext cx="8019459" cy="3249959"/>
            <a:chOff x="0" y="0"/>
            <a:chExt cx="10692613" cy="4333278"/>
          </a:xfrm>
        </p:grpSpPr>
        <p:sp>
          <p:nvSpPr>
            <p:cNvPr id="8" name="Freeform 8"/>
            <p:cNvSpPr/>
            <p:nvPr/>
          </p:nvSpPr>
          <p:spPr>
            <a:xfrm>
              <a:off x="6350" y="6350"/>
              <a:ext cx="10679938" cy="4320540"/>
            </a:xfrm>
            <a:custGeom>
              <a:avLst/>
              <a:gdLst/>
              <a:ahLst/>
              <a:cxnLst/>
              <a:rect l="l" t="t" r="r" b="b"/>
              <a:pathLst>
                <a:path w="10679938" h="4320540">
                  <a:moveTo>
                    <a:pt x="0" y="340233"/>
                  </a:moveTo>
                  <a:cubicBezTo>
                    <a:pt x="0" y="152273"/>
                    <a:pt x="152654" y="0"/>
                    <a:pt x="340868" y="0"/>
                  </a:cubicBezTo>
                  <a:lnTo>
                    <a:pt x="10339070" y="0"/>
                  </a:lnTo>
                  <a:cubicBezTo>
                    <a:pt x="10527284" y="0"/>
                    <a:pt x="10679938" y="152273"/>
                    <a:pt x="10679938" y="340233"/>
                  </a:cubicBezTo>
                  <a:lnTo>
                    <a:pt x="10679938" y="3980307"/>
                  </a:lnTo>
                  <a:cubicBezTo>
                    <a:pt x="10679938" y="4168267"/>
                    <a:pt x="10527284" y="4320540"/>
                    <a:pt x="10339070" y="4320540"/>
                  </a:cubicBezTo>
                  <a:lnTo>
                    <a:pt x="340868" y="4320540"/>
                  </a:lnTo>
                  <a:cubicBezTo>
                    <a:pt x="152654" y="4320540"/>
                    <a:pt x="0" y="4168267"/>
                    <a:pt x="0" y="3980307"/>
                  </a:cubicBezTo>
                  <a:close/>
                </a:path>
              </a:pathLst>
            </a:custGeom>
            <a:solidFill>
              <a:srgbClr val="FFCCD1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10692638" cy="4333240"/>
            </a:xfrm>
            <a:custGeom>
              <a:avLst/>
              <a:gdLst/>
              <a:ahLst/>
              <a:cxnLst/>
              <a:rect l="l" t="t" r="r" b="b"/>
              <a:pathLst>
                <a:path w="10692638" h="4333240">
                  <a:moveTo>
                    <a:pt x="0" y="346583"/>
                  </a:moveTo>
                  <a:cubicBezTo>
                    <a:pt x="0" y="155194"/>
                    <a:pt x="155448" y="0"/>
                    <a:pt x="347218" y="0"/>
                  </a:cubicBezTo>
                  <a:lnTo>
                    <a:pt x="10345420" y="0"/>
                  </a:lnTo>
                  <a:lnTo>
                    <a:pt x="10345420" y="6350"/>
                  </a:lnTo>
                  <a:lnTo>
                    <a:pt x="10345420" y="0"/>
                  </a:lnTo>
                  <a:cubicBezTo>
                    <a:pt x="10537189" y="0"/>
                    <a:pt x="10692638" y="155194"/>
                    <a:pt x="10692638" y="346583"/>
                  </a:cubicBezTo>
                  <a:lnTo>
                    <a:pt x="10686288" y="346583"/>
                  </a:lnTo>
                  <a:lnTo>
                    <a:pt x="10692638" y="346583"/>
                  </a:lnTo>
                  <a:lnTo>
                    <a:pt x="10692638" y="3986657"/>
                  </a:lnTo>
                  <a:lnTo>
                    <a:pt x="10686288" y="3986657"/>
                  </a:lnTo>
                  <a:lnTo>
                    <a:pt x="10692638" y="3986657"/>
                  </a:lnTo>
                  <a:cubicBezTo>
                    <a:pt x="10692638" y="4178046"/>
                    <a:pt x="10537189" y="4333240"/>
                    <a:pt x="10345420" y="4333240"/>
                  </a:cubicBezTo>
                  <a:lnTo>
                    <a:pt x="10345420" y="4326890"/>
                  </a:lnTo>
                  <a:lnTo>
                    <a:pt x="10345420" y="4333240"/>
                  </a:lnTo>
                  <a:lnTo>
                    <a:pt x="347218" y="4333240"/>
                  </a:lnTo>
                  <a:lnTo>
                    <a:pt x="347218" y="4326890"/>
                  </a:lnTo>
                  <a:lnTo>
                    <a:pt x="347218" y="4333240"/>
                  </a:lnTo>
                  <a:cubicBezTo>
                    <a:pt x="155448" y="4333240"/>
                    <a:pt x="0" y="4178173"/>
                    <a:pt x="0" y="3986657"/>
                  </a:cubicBezTo>
                  <a:lnTo>
                    <a:pt x="0" y="346583"/>
                  </a:lnTo>
                  <a:lnTo>
                    <a:pt x="6350" y="346583"/>
                  </a:lnTo>
                  <a:lnTo>
                    <a:pt x="0" y="346583"/>
                  </a:lnTo>
                  <a:moveTo>
                    <a:pt x="12700" y="346583"/>
                  </a:moveTo>
                  <a:lnTo>
                    <a:pt x="12700" y="3986657"/>
                  </a:lnTo>
                  <a:lnTo>
                    <a:pt x="6350" y="3986657"/>
                  </a:lnTo>
                  <a:lnTo>
                    <a:pt x="12700" y="3986657"/>
                  </a:lnTo>
                  <a:cubicBezTo>
                    <a:pt x="12700" y="4171061"/>
                    <a:pt x="162433" y="4320540"/>
                    <a:pt x="347218" y="4320540"/>
                  </a:cubicBezTo>
                  <a:lnTo>
                    <a:pt x="10345420" y="4320540"/>
                  </a:lnTo>
                  <a:cubicBezTo>
                    <a:pt x="10530205" y="4320540"/>
                    <a:pt x="10679938" y="4171061"/>
                    <a:pt x="10679938" y="3986657"/>
                  </a:cubicBezTo>
                  <a:lnTo>
                    <a:pt x="10679938" y="346583"/>
                  </a:lnTo>
                  <a:cubicBezTo>
                    <a:pt x="10679938" y="162179"/>
                    <a:pt x="10530205" y="12700"/>
                    <a:pt x="10345420" y="12700"/>
                  </a:cubicBezTo>
                  <a:lnTo>
                    <a:pt x="347218" y="12700"/>
                  </a:lnTo>
                  <a:lnTo>
                    <a:pt x="347218" y="6350"/>
                  </a:lnTo>
                  <a:lnTo>
                    <a:pt x="347218" y="12700"/>
                  </a:lnTo>
                  <a:cubicBezTo>
                    <a:pt x="162433" y="12700"/>
                    <a:pt x="12700" y="162179"/>
                    <a:pt x="12700" y="346583"/>
                  </a:cubicBezTo>
                  <a:close/>
                </a:path>
              </a:pathLst>
            </a:custGeom>
            <a:solidFill>
              <a:srgbClr val="E5B2B7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85284" y="2780852"/>
            <a:ext cx="850554" cy="850554"/>
            <a:chOff x="0" y="0"/>
            <a:chExt cx="1134072" cy="1134072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3" b="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Freeform 12" descr="preencoded.png"/>
          <p:cNvSpPr/>
          <p:nvPr/>
        </p:nvSpPr>
        <p:spPr>
          <a:xfrm>
            <a:off x="1519238" y="3014662"/>
            <a:ext cx="382638" cy="382638"/>
          </a:xfrm>
          <a:custGeom>
            <a:avLst/>
            <a:gdLst/>
            <a:ahLst/>
            <a:cxnLst/>
            <a:rect l="l" t="t" r="r" b="b"/>
            <a:pathLst>
              <a:path w="382638" h="382638">
                <a:moveTo>
                  <a:pt x="0" y="0"/>
                </a:moveTo>
                <a:lnTo>
                  <a:pt x="382638" y="0"/>
                </a:lnTo>
                <a:lnTo>
                  <a:pt x="382638" y="382639"/>
                </a:lnTo>
                <a:lnTo>
                  <a:pt x="0" y="3826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2439" b="-243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1285284" y="3905402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A4A4A"/>
                </a:solidFill>
                <a:latin typeface="DM Sans Bold"/>
                <a:ea typeface="DM Sans Bold"/>
                <a:cs typeface="DM Sans Bold"/>
                <a:sym typeface="DM Sans Bold"/>
              </a:rPr>
              <a:t>Core Learning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85284" y="4432697"/>
            <a:ext cx="7423842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Understand dynamic memory allocation, pointers, and linked lists in C programming.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280922" y="2483053"/>
            <a:ext cx="8019602" cy="3249959"/>
            <a:chOff x="0" y="0"/>
            <a:chExt cx="10692803" cy="4333278"/>
          </a:xfrm>
        </p:grpSpPr>
        <p:sp>
          <p:nvSpPr>
            <p:cNvPr id="16" name="Freeform 16"/>
            <p:cNvSpPr/>
            <p:nvPr/>
          </p:nvSpPr>
          <p:spPr>
            <a:xfrm>
              <a:off x="6350" y="6350"/>
              <a:ext cx="10680192" cy="4320540"/>
            </a:xfrm>
            <a:custGeom>
              <a:avLst/>
              <a:gdLst/>
              <a:ahLst/>
              <a:cxnLst/>
              <a:rect l="l" t="t" r="r" b="b"/>
              <a:pathLst>
                <a:path w="10680192" h="4320540">
                  <a:moveTo>
                    <a:pt x="0" y="340233"/>
                  </a:moveTo>
                  <a:cubicBezTo>
                    <a:pt x="0" y="152273"/>
                    <a:pt x="152654" y="0"/>
                    <a:pt x="340868" y="0"/>
                  </a:cubicBezTo>
                  <a:lnTo>
                    <a:pt x="10339324" y="0"/>
                  </a:lnTo>
                  <a:cubicBezTo>
                    <a:pt x="10527538" y="0"/>
                    <a:pt x="10680192" y="152273"/>
                    <a:pt x="10680192" y="340233"/>
                  </a:cubicBezTo>
                  <a:lnTo>
                    <a:pt x="10680192" y="3980307"/>
                  </a:lnTo>
                  <a:cubicBezTo>
                    <a:pt x="10680192" y="4168267"/>
                    <a:pt x="10527538" y="4320540"/>
                    <a:pt x="10339324" y="4320540"/>
                  </a:cubicBezTo>
                  <a:lnTo>
                    <a:pt x="340868" y="4320540"/>
                  </a:lnTo>
                  <a:cubicBezTo>
                    <a:pt x="152654" y="4320540"/>
                    <a:pt x="0" y="4168267"/>
                    <a:pt x="0" y="3980307"/>
                  </a:cubicBezTo>
                  <a:close/>
                </a:path>
              </a:pathLst>
            </a:custGeom>
            <a:solidFill>
              <a:srgbClr val="FFCCD1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0"/>
              <a:ext cx="10692892" cy="4333240"/>
            </a:xfrm>
            <a:custGeom>
              <a:avLst/>
              <a:gdLst/>
              <a:ahLst/>
              <a:cxnLst/>
              <a:rect l="l" t="t" r="r" b="b"/>
              <a:pathLst>
                <a:path w="10692892" h="4333240">
                  <a:moveTo>
                    <a:pt x="0" y="346583"/>
                  </a:moveTo>
                  <a:cubicBezTo>
                    <a:pt x="0" y="155194"/>
                    <a:pt x="155448" y="0"/>
                    <a:pt x="347218" y="0"/>
                  </a:cubicBezTo>
                  <a:lnTo>
                    <a:pt x="10345674" y="0"/>
                  </a:lnTo>
                  <a:lnTo>
                    <a:pt x="10345674" y="6350"/>
                  </a:lnTo>
                  <a:lnTo>
                    <a:pt x="10345674" y="0"/>
                  </a:lnTo>
                  <a:cubicBezTo>
                    <a:pt x="10537444" y="0"/>
                    <a:pt x="10692892" y="155194"/>
                    <a:pt x="10692892" y="346583"/>
                  </a:cubicBezTo>
                  <a:lnTo>
                    <a:pt x="10686542" y="346583"/>
                  </a:lnTo>
                  <a:lnTo>
                    <a:pt x="10692892" y="346583"/>
                  </a:lnTo>
                  <a:lnTo>
                    <a:pt x="10692892" y="3986657"/>
                  </a:lnTo>
                  <a:lnTo>
                    <a:pt x="10686542" y="3986657"/>
                  </a:lnTo>
                  <a:lnTo>
                    <a:pt x="10692892" y="3986657"/>
                  </a:lnTo>
                  <a:cubicBezTo>
                    <a:pt x="10692892" y="4178046"/>
                    <a:pt x="10537444" y="4333240"/>
                    <a:pt x="10345674" y="4333240"/>
                  </a:cubicBezTo>
                  <a:lnTo>
                    <a:pt x="10345674" y="4326890"/>
                  </a:lnTo>
                  <a:lnTo>
                    <a:pt x="10345674" y="4333240"/>
                  </a:lnTo>
                  <a:lnTo>
                    <a:pt x="347218" y="4333240"/>
                  </a:lnTo>
                  <a:lnTo>
                    <a:pt x="347218" y="4326890"/>
                  </a:lnTo>
                  <a:lnTo>
                    <a:pt x="347218" y="4333240"/>
                  </a:lnTo>
                  <a:cubicBezTo>
                    <a:pt x="155448" y="4333240"/>
                    <a:pt x="0" y="4178173"/>
                    <a:pt x="0" y="3986657"/>
                  </a:cubicBezTo>
                  <a:lnTo>
                    <a:pt x="0" y="346583"/>
                  </a:lnTo>
                  <a:lnTo>
                    <a:pt x="6350" y="346583"/>
                  </a:lnTo>
                  <a:lnTo>
                    <a:pt x="0" y="346583"/>
                  </a:lnTo>
                  <a:moveTo>
                    <a:pt x="12700" y="346583"/>
                  </a:moveTo>
                  <a:lnTo>
                    <a:pt x="12700" y="3986657"/>
                  </a:lnTo>
                  <a:lnTo>
                    <a:pt x="6350" y="3986657"/>
                  </a:lnTo>
                  <a:lnTo>
                    <a:pt x="12700" y="3986657"/>
                  </a:lnTo>
                  <a:cubicBezTo>
                    <a:pt x="12700" y="4171061"/>
                    <a:pt x="162433" y="4320540"/>
                    <a:pt x="347218" y="4320540"/>
                  </a:cubicBezTo>
                  <a:lnTo>
                    <a:pt x="10345674" y="4320540"/>
                  </a:lnTo>
                  <a:cubicBezTo>
                    <a:pt x="10530459" y="4320540"/>
                    <a:pt x="10680192" y="4171061"/>
                    <a:pt x="10680192" y="3986657"/>
                  </a:cubicBezTo>
                  <a:lnTo>
                    <a:pt x="10680192" y="346583"/>
                  </a:lnTo>
                  <a:cubicBezTo>
                    <a:pt x="10680065" y="162179"/>
                    <a:pt x="10530332" y="12700"/>
                    <a:pt x="10345674" y="12700"/>
                  </a:cubicBezTo>
                  <a:lnTo>
                    <a:pt x="347218" y="12700"/>
                  </a:lnTo>
                  <a:lnTo>
                    <a:pt x="347218" y="6350"/>
                  </a:lnTo>
                  <a:lnTo>
                    <a:pt x="347218" y="12700"/>
                  </a:lnTo>
                  <a:cubicBezTo>
                    <a:pt x="162433" y="12700"/>
                    <a:pt x="12700" y="162179"/>
                    <a:pt x="12700" y="346583"/>
                  </a:cubicBezTo>
                  <a:close/>
                </a:path>
              </a:pathLst>
            </a:custGeom>
            <a:solidFill>
              <a:srgbClr val="E5B2B7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578731" y="2780852"/>
            <a:ext cx="850554" cy="850554"/>
            <a:chOff x="0" y="0"/>
            <a:chExt cx="1134072" cy="1134072"/>
          </a:xfrm>
        </p:grpSpPr>
        <p:sp>
          <p:nvSpPr>
            <p:cNvPr id="19" name="Freeform 19" descr="preencoded.png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3" b="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Freeform 20" descr="preencoded.png"/>
          <p:cNvSpPr/>
          <p:nvPr/>
        </p:nvSpPr>
        <p:spPr>
          <a:xfrm>
            <a:off x="9812684" y="3014662"/>
            <a:ext cx="382638" cy="382638"/>
          </a:xfrm>
          <a:custGeom>
            <a:avLst/>
            <a:gdLst/>
            <a:ahLst/>
            <a:cxnLst/>
            <a:rect l="l" t="t" r="r" b="b"/>
            <a:pathLst>
              <a:path w="382638" h="382638">
                <a:moveTo>
                  <a:pt x="0" y="0"/>
                </a:moveTo>
                <a:lnTo>
                  <a:pt x="382638" y="0"/>
                </a:lnTo>
                <a:lnTo>
                  <a:pt x="382638" y="382639"/>
                </a:lnTo>
                <a:lnTo>
                  <a:pt x="0" y="3826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7316" b="-731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TextBox 21"/>
          <p:cNvSpPr txBox="1"/>
          <p:nvPr/>
        </p:nvSpPr>
        <p:spPr>
          <a:xfrm>
            <a:off x="9578731" y="3905402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A4A4A"/>
                </a:solidFill>
                <a:latin typeface="DM Sans Bold"/>
                <a:ea typeface="DM Sans Bold"/>
                <a:cs typeface="DM Sans Bold"/>
                <a:sym typeface="DM Sans Bold"/>
              </a:rPr>
              <a:t>Basic Operations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578731" y="4432697"/>
            <a:ext cx="7423995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Implement adding, deleting, searching, issuing, and returning books.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87476" y="6006998"/>
            <a:ext cx="8019459" cy="3249959"/>
            <a:chOff x="0" y="0"/>
            <a:chExt cx="10692613" cy="4333278"/>
          </a:xfrm>
        </p:grpSpPr>
        <p:sp>
          <p:nvSpPr>
            <p:cNvPr id="24" name="Freeform 24"/>
            <p:cNvSpPr/>
            <p:nvPr/>
          </p:nvSpPr>
          <p:spPr>
            <a:xfrm>
              <a:off x="6350" y="6350"/>
              <a:ext cx="10679938" cy="4320540"/>
            </a:xfrm>
            <a:custGeom>
              <a:avLst/>
              <a:gdLst/>
              <a:ahLst/>
              <a:cxnLst/>
              <a:rect l="l" t="t" r="r" b="b"/>
              <a:pathLst>
                <a:path w="10679938" h="4320540">
                  <a:moveTo>
                    <a:pt x="0" y="340233"/>
                  </a:moveTo>
                  <a:cubicBezTo>
                    <a:pt x="0" y="152273"/>
                    <a:pt x="152654" y="0"/>
                    <a:pt x="340868" y="0"/>
                  </a:cubicBezTo>
                  <a:lnTo>
                    <a:pt x="10339070" y="0"/>
                  </a:lnTo>
                  <a:cubicBezTo>
                    <a:pt x="10527284" y="0"/>
                    <a:pt x="10679938" y="152273"/>
                    <a:pt x="10679938" y="340233"/>
                  </a:cubicBezTo>
                  <a:lnTo>
                    <a:pt x="10679938" y="3980307"/>
                  </a:lnTo>
                  <a:cubicBezTo>
                    <a:pt x="10679938" y="4168267"/>
                    <a:pt x="10527284" y="4320540"/>
                    <a:pt x="10339070" y="4320540"/>
                  </a:cubicBezTo>
                  <a:lnTo>
                    <a:pt x="340868" y="4320540"/>
                  </a:lnTo>
                  <a:cubicBezTo>
                    <a:pt x="152654" y="4320540"/>
                    <a:pt x="0" y="4168267"/>
                    <a:pt x="0" y="3980307"/>
                  </a:cubicBezTo>
                  <a:close/>
                </a:path>
              </a:pathLst>
            </a:custGeom>
            <a:solidFill>
              <a:srgbClr val="FFCCD1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0" y="0"/>
              <a:ext cx="10692638" cy="4333240"/>
            </a:xfrm>
            <a:custGeom>
              <a:avLst/>
              <a:gdLst/>
              <a:ahLst/>
              <a:cxnLst/>
              <a:rect l="l" t="t" r="r" b="b"/>
              <a:pathLst>
                <a:path w="10692638" h="4333240">
                  <a:moveTo>
                    <a:pt x="0" y="346583"/>
                  </a:moveTo>
                  <a:cubicBezTo>
                    <a:pt x="0" y="155194"/>
                    <a:pt x="155448" y="0"/>
                    <a:pt x="347218" y="0"/>
                  </a:cubicBezTo>
                  <a:lnTo>
                    <a:pt x="10345420" y="0"/>
                  </a:lnTo>
                  <a:lnTo>
                    <a:pt x="10345420" y="6350"/>
                  </a:lnTo>
                  <a:lnTo>
                    <a:pt x="10345420" y="0"/>
                  </a:lnTo>
                  <a:cubicBezTo>
                    <a:pt x="10537189" y="0"/>
                    <a:pt x="10692638" y="155194"/>
                    <a:pt x="10692638" y="346583"/>
                  </a:cubicBezTo>
                  <a:lnTo>
                    <a:pt x="10686288" y="346583"/>
                  </a:lnTo>
                  <a:lnTo>
                    <a:pt x="10692638" y="346583"/>
                  </a:lnTo>
                  <a:lnTo>
                    <a:pt x="10692638" y="3986657"/>
                  </a:lnTo>
                  <a:lnTo>
                    <a:pt x="10686288" y="3986657"/>
                  </a:lnTo>
                  <a:lnTo>
                    <a:pt x="10692638" y="3986657"/>
                  </a:lnTo>
                  <a:cubicBezTo>
                    <a:pt x="10692638" y="4178046"/>
                    <a:pt x="10537189" y="4333240"/>
                    <a:pt x="10345420" y="4333240"/>
                  </a:cubicBezTo>
                  <a:lnTo>
                    <a:pt x="10345420" y="4326890"/>
                  </a:lnTo>
                  <a:lnTo>
                    <a:pt x="10345420" y="4333240"/>
                  </a:lnTo>
                  <a:lnTo>
                    <a:pt x="347218" y="4333240"/>
                  </a:lnTo>
                  <a:lnTo>
                    <a:pt x="347218" y="4326890"/>
                  </a:lnTo>
                  <a:lnTo>
                    <a:pt x="347218" y="4333240"/>
                  </a:lnTo>
                  <a:cubicBezTo>
                    <a:pt x="155448" y="4333240"/>
                    <a:pt x="0" y="4178173"/>
                    <a:pt x="0" y="3986657"/>
                  </a:cubicBezTo>
                  <a:lnTo>
                    <a:pt x="0" y="346583"/>
                  </a:lnTo>
                  <a:lnTo>
                    <a:pt x="6350" y="346583"/>
                  </a:lnTo>
                  <a:lnTo>
                    <a:pt x="0" y="346583"/>
                  </a:lnTo>
                  <a:moveTo>
                    <a:pt x="12700" y="346583"/>
                  </a:moveTo>
                  <a:lnTo>
                    <a:pt x="12700" y="3986657"/>
                  </a:lnTo>
                  <a:lnTo>
                    <a:pt x="6350" y="3986657"/>
                  </a:lnTo>
                  <a:lnTo>
                    <a:pt x="12700" y="3986657"/>
                  </a:lnTo>
                  <a:cubicBezTo>
                    <a:pt x="12700" y="4171061"/>
                    <a:pt x="162433" y="4320540"/>
                    <a:pt x="347218" y="4320540"/>
                  </a:cubicBezTo>
                  <a:lnTo>
                    <a:pt x="10345420" y="4320540"/>
                  </a:lnTo>
                  <a:cubicBezTo>
                    <a:pt x="10530205" y="4320540"/>
                    <a:pt x="10679938" y="4171061"/>
                    <a:pt x="10679938" y="3986657"/>
                  </a:cubicBezTo>
                  <a:lnTo>
                    <a:pt x="10679938" y="346583"/>
                  </a:lnTo>
                  <a:cubicBezTo>
                    <a:pt x="10679938" y="162179"/>
                    <a:pt x="10530205" y="12700"/>
                    <a:pt x="10345420" y="12700"/>
                  </a:cubicBezTo>
                  <a:lnTo>
                    <a:pt x="347218" y="12700"/>
                  </a:lnTo>
                  <a:lnTo>
                    <a:pt x="347218" y="6350"/>
                  </a:lnTo>
                  <a:lnTo>
                    <a:pt x="347218" y="12700"/>
                  </a:lnTo>
                  <a:cubicBezTo>
                    <a:pt x="162433" y="12700"/>
                    <a:pt x="12700" y="162179"/>
                    <a:pt x="12700" y="346583"/>
                  </a:cubicBezTo>
                  <a:close/>
                </a:path>
              </a:pathLst>
            </a:custGeom>
            <a:solidFill>
              <a:srgbClr val="E5B2B7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85284" y="6304807"/>
            <a:ext cx="850554" cy="850554"/>
            <a:chOff x="0" y="0"/>
            <a:chExt cx="1134072" cy="1134072"/>
          </a:xfrm>
        </p:grpSpPr>
        <p:sp>
          <p:nvSpPr>
            <p:cNvPr id="27" name="Freeform 27" descr="preencoded.png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3" b="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8" name="Freeform 28" descr="preencoded.png"/>
          <p:cNvSpPr/>
          <p:nvPr/>
        </p:nvSpPr>
        <p:spPr>
          <a:xfrm>
            <a:off x="1519238" y="6538617"/>
            <a:ext cx="382638" cy="382638"/>
          </a:xfrm>
          <a:custGeom>
            <a:avLst/>
            <a:gdLst/>
            <a:ahLst/>
            <a:cxnLst/>
            <a:rect l="l" t="t" r="r" b="b"/>
            <a:pathLst>
              <a:path w="382638" h="382638">
                <a:moveTo>
                  <a:pt x="0" y="0"/>
                </a:moveTo>
                <a:lnTo>
                  <a:pt x="382638" y="0"/>
                </a:lnTo>
                <a:lnTo>
                  <a:pt x="382638" y="382639"/>
                </a:lnTo>
                <a:lnTo>
                  <a:pt x="0" y="3826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439" r="-243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9" name="TextBox 29"/>
          <p:cNvSpPr txBox="1"/>
          <p:nvPr/>
        </p:nvSpPr>
        <p:spPr>
          <a:xfrm>
            <a:off x="1285284" y="7429348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A4A4A"/>
                </a:solidFill>
                <a:latin typeface="DM Sans Bold"/>
                <a:ea typeface="DM Sans Bold"/>
                <a:cs typeface="DM Sans Bold"/>
                <a:sym typeface="DM Sans Bold"/>
              </a:rPr>
              <a:t>Problem-Solving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85284" y="7956652"/>
            <a:ext cx="7423842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Improve logical thinking and understand program structure integration.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9280922" y="6006998"/>
            <a:ext cx="8019602" cy="3249959"/>
            <a:chOff x="0" y="0"/>
            <a:chExt cx="10692803" cy="4333278"/>
          </a:xfrm>
        </p:grpSpPr>
        <p:sp>
          <p:nvSpPr>
            <p:cNvPr id="32" name="Freeform 32"/>
            <p:cNvSpPr/>
            <p:nvPr/>
          </p:nvSpPr>
          <p:spPr>
            <a:xfrm>
              <a:off x="6350" y="6350"/>
              <a:ext cx="10680192" cy="4320540"/>
            </a:xfrm>
            <a:custGeom>
              <a:avLst/>
              <a:gdLst/>
              <a:ahLst/>
              <a:cxnLst/>
              <a:rect l="l" t="t" r="r" b="b"/>
              <a:pathLst>
                <a:path w="10680192" h="4320540">
                  <a:moveTo>
                    <a:pt x="0" y="340233"/>
                  </a:moveTo>
                  <a:cubicBezTo>
                    <a:pt x="0" y="152273"/>
                    <a:pt x="152654" y="0"/>
                    <a:pt x="340868" y="0"/>
                  </a:cubicBezTo>
                  <a:lnTo>
                    <a:pt x="10339324" y="0"/>
                  </a:lnTo>
                  <a:cubicBezTo>
                    <a:pt x="10527538" y="0"/>
                    <a:pt x="10680192" y="152273"/>
                    <a:pt x="10680192" y="340233"/>
                  </a:cubicBezTo>
                  <a:lnTo>
                    <a:pt x="10680192" y="3980307"/>
                  </a:lnTo>
                  <a:cubicBezTo>
                    <a:pt x="10680192" y="4168267"/>
                    <a:pt x="10527538" y="4320540"/>
                    <a:pt x="10339324" y="4320540"/>
                  </a:cubicBezTo>
                  <a:lnTo>
                    <a:pt x="340868" y="4320540"/>
                  </a:lnTo>
                  <a:cubicBezTo>
                    <a:pt x="152654" y="4320540"/>
                    <a:pt x="0" y="4168267"/>
                    <a:pt x="0" y="3980307"/>
                  </a:cubicBezTo>
                  <a:close/>
                </a:path>
              </a:pathLst>
            </a:custGeom>
            <a:solidFill>
              <a:srgbClr val="FFCCD1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0" y="0"/>
              <a:ext cx="10692892" cy="4333240"/>
            </a:xfrm>
            <a:custGeom>
              <a:avLst/>
              <a:gdLst/>
              <a:ahLst/>
              <a:cxnLst/>
              <a:rect l="l" t="t" r="r" b="b"/>
              <a:pathLst>
                <a:path w="10692892" h="4333240">
                  <a:moveTo>
                    <a:pt x="0" y="346583"/>
                  </a:moveTo>
                  <a:cubicBezTo>
                    <a:pt x="0" y="155194"/>
                    <a:pt x="155448" y="0"/>
                    <a:pt x="347218" y="0"/>
                  </a:cubicBezTo>
                  <a:lnTo>
                    <a:pt x="10345674" y="0"/>
                  </a:lnTo>
                  <a:lnTo>
                    <a:pt x="10345674" y="6350"/>
                  </a:lnTo>
                  <a:lnTo>
                    <a:pt x="10345674" y="0"/>
                  </a:lnTo>
                  <a:cubicBezTo>
                    <a:pt x="10537444" y="0"/>
                    <a:pt x="10692892" y="155194"/>
                    <a:pt x="10692892" y="346583"/>
                  </a:cubicBezTo>
                  <a:lnTo>
                    <a:pt x="10686542" y="346583"/>
                  </a:lnTo>
                  <a:lnTo>
                    <a:pt x="10692892" y="346583"/>
                  </a:lnTo>
                  <a:lnTo>
                    <a:pt x="10692892" y="3986657"/>
                  </a:lnTo>
                  <a:lnTo>
                    <a:pt x="10686542" y="3986657"/>
                  </a:lnTo>
                  <a:lnTo>
                    <a:pt x="10692892" y="3986657"/>
                  </a:lnTo>
                  <a:cubicBezTo>
                    <a:pt x="10692892" y="4178046"/>
                    <a:pt x="10537444" y="4333240"/>
                    <a:pt x="10345674" y="4333240"/>
                  </a:cubicBezTo>
                  <a:lnTo>
                    <a:pt x="10345674" y="4326890"/>
                  </a:lnTo>
                  <a:lnTo>
                    <a:pt x="10345674" y="4333240"/>
                  </a:lnTo>
                  <a:lnTo>
                    <a:pt x="347218" y="4333240"/>
                  </a:lnTo>
                  <a:lnTo>
                    <a:pt x="347218" y="4326890"/>
                  </a:lnTo>
                  <a:lnTo>
                    <a:pt x="347218" y="4333240"/>
                  </a:lnTo>
                  <a:cubicBezTo>
                    <a:pt x="155448" y="4333240"/>
                    <a:pt x="0" y="4178173"/>
                    <a:pt x="0" y="3986657"/>
                  </a:cubicBezTo>
                  <a:lnTo>
                    <a:pt x="0" y="346583"/>
                  </a:lnTo>
                  <a:lnTo>
                    <a:pt x="6350" y="346583"/>
                  </a:lnTo>
                  <a:lnTo>
                    <a:pt x="0" y="346583"/>
                  </a:lnTo>
                  <a:moveTo>
                    <a:pt x="12700" y="346583"/>
                  </a:moveTo>
                  <a:lnTo>
                    <a:pt x="12700" y="3986657"/>
                  </a:lnTo>
                  <a:lnTo>
                    <a:pt x="6350" y="3986657"/>
                  </a:lnTo>
                  <a:lnTo>
                    <a:pt x="12700" y="3986657"/>
                  </a:lnTo>
                  <a:cubicBezTo>
                    <a:pt x="12700" y="4171061"/>
                    <a:pt x="162433" y="4320540"/>
                    <a:pt x="347218" y="4320540"/>
                  </a:cubicBezTo>
                  <a:lnTo>
                    <a:pt x="10345674" y="4320540"/>
                  </a:lnTo>
                  <a:cubicBezTo>
                    <a:pt x="10530459" y="4320540"/>
                    <a:pt x="10680192" y="4171061"/>
                    <a:pt x="10680192" y="3986657"/>
                  </a:cubicBezTo>
                  <a:lnTo>
                    <a:pt x="10680192" y="346583"/>
                  </a:lnTo>
                  <a:cubicBezTo>
                    <a:pt x="10680065" y="162179"/>
                    <a:pt x="10530332" y="12700"/>
                    <a:pt x="10345674" y="12700"/>
                  </a:cubicBezTo>
                  <a:lnTo>
                    <a:pt x="347218" y="12700"/>
                  </a:lnTo>
                  <a:lnTo>
                    <a:pt x="347218" y="6350"/>
                  </a:lnTo>
                  <a:lnTo>
                    <a:pt x="347218" y="12700"/>
                  </a:lnTo>
                  <a:cubicBezTo>
                    <a:pt x="162433" y="12700"/>
                    <a:pt x="12700" y="162179"/>
                    <a:pt x="12700" y="346583"/>
                  </a:cubicBezTo>
                  <a:close/>
                </a:path>
              </a:pathLst>
            </a:custGeom>
            <a:solidFill>
              <a:srgbClr val="E5B2B7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78731" y="6304807"/>
            <a:ext cx="850554" cy="850554"/>
            <a:chOff x="0" y="0"/>
            <a:chExt cx="1134072" cy="1134072"/>
          </a:xfrm>
        </p:grpSpPr>
        <p:sp>
          <p:nvSpPr>
            <p:cNvPr id="35" name="Freeform 35" descr="preencoded.png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3" b="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6" name="Freeform 36" descr="preencoded.png"/>
          <p:cNvSpPr/>
          <p:nvPr/>
        </p:nvSpPr>
        <p:spPr>
          <a:xfrm>
            <a:off x="9812684" y="6538617"/>
            <a:ext cx="382638" cy="382638"/>
          </a:xfrm>
          <a:custGeom>
            <a:avLst/>
            <a:gdLst/>
            <a:ahLst/>
            <a:cxnLst/>
            <a:rect l="l" t="t" r="r" b="b"/>
            <a:pathLst>
              <a:path w="382638" h="382638">
                <a:moveTo>
                  <a:pt x="0" y="0"/>
                </a:moveTo>
                <a:lnTo>
                  <a:pt x="382638" y="0"/>
                </a:lnTo>
                <a:lnTo>
                  <a:pt x="382638" y="382639"/>
                </a:lnTo>
                <a:lnTo>
                  <a:pt x="0" y="3826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t="-58535" b="-5853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7" name="TextBox 37"/>
          <p:cNvSpPr txBox="1"/>
          <p:nvPr/>
        </p:nvSpPr>
        <p:spPr>
          <a:xfrm>
            <a:off x="9578731" y="7429348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A4A4A"/>
                </a:solidFill>
                <a:latin typeface="DM Sans Bold"/>
                <a:ea typeface="DM Sans Bold"/>
                <a:cs typeface="DM Sans Bold"/>
                <a:sym typeface="DM Sans Bold"/>
              </a:rPr>
              <a:t>Practical Skills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578731" y="7956652"/>
            <a:ext cx="7423995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Gain hands-on experience writing structured code for real-world problems.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49015" y="9686925"/>
            <a:ext cx="2153260" cy="514350"/>
            <a:chOff x="0" y="0"/>
            <a:chExt cx="2871013" cy="685800"/>
          </a:xfrm>
        </p:grpSpPr>
        <p:sp>
          <p:nvSpPr>
            <p:cNvPr id="7" name="Freeform 7" descr="preencoded.png">
              <a:hlinkClick r:id="rId4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CCD1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571684" y="212522"/>
            <a:ext cx="6574631" cy="9861947"/>
            <a:chOff x="0" y="0"/>
            <a:chExt cx="8766175" cy="13149262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8766175" cy="13149326"/>
            </a:xfrm>
            <a:custGeom>
              <a:avLst/>
              <a:gdLst/>
              <a:ahLst/>
              <a:cxnLst/>
              <a:rect l="l" t="t" r="r" b="b"/>
              <a:pathLst>
                <a:path w="8766175" h="13149326">
                  <a:moveTo>
                    <a:pt x="0" y="0"/>
                  </a:moveTo>
                  <a:lnTo>
                    <a:pt x="8766175" y="0"/>
                  </a:lnTo>
                  <a:lnTo>
                    <a:pt x="8766175" y="13149326"/>
                  </a:lnTo>
                  <a:lnTo>
                    <a:pt x="0" y="13149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92238" y="1393622"/>
            <a:ext cx="7088238" cy="90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9C5461"/>
                </a:solidFill>
                <a:latin typeface="DM Sans Bold"/>
                <a:ea typeface="DM Sans Bold"/>
                <a:cs typeface="DM Sans Bold"/>
                <a:sym typeface="DM Sans Bold"/>
              </a:rPr>
              <a:t>Technology Stack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73188" y="2704805"/>
            <a:ext cx="9483623" cy="2201618"/>
            <a:chOff x="0" y="0"/>
            <a:chExt cx="12644831" cy="2935491"/>
          </a:xfrm>
        </p:grpSpPr>
        <p:sp>
          <p:nvSpPr>
            <p:cNvPr id="14" name="Freeform 14"/>
            <p:cNvSpPr/>
            <p:nvPr/>
          </p:nvSpPr>
          <p:spPr>
            <a:xfrm>
              <a:off x="25400" y="25400"/>
              <a:ext cx="12594082" cy="2884678"/>
            </a:xfrm>
            <a:custGeom>
              <a:avLst/>
              <a:gdLst/>
              <a:ahLst/>
              <a:cxnLst/>
              <a:rect l="l" t="t" r="r" b="b"/>
              <a:pathLst>
                <a:path w="12594082" h="2884678">
                  <a:moveTo>
                    <a:pt x="0" y="243840"/>
                  </a:moveTo>
                  <a:cubicBezTo>
                    <a:pt x="0" y="109220"/>
                    <a:pt x="110617" y="0"/>
                    <a:pt x="247142" y="0"/>
                  </a:cubicBezTo>
                  <a:lnTo>
                    <a:pt x="12346940" y="0"/>
                  </a:lnTo>
                  <a:cubicBezTo>
                    <a:pt x="12483465" y="0"/>
                    <a:pt x="12594082" y="109220"/>
                    <a:pt x="12594082" y="243840"/>
                  </a:cubicBezTo>
                  <a:lnTo>
                    <a:pt x="12594082" y="2640838"/>
                  </a:lnTo>
                  <a:cubicBezTo>
                    <a:pt x="12594082" y="2775458"/>
                    <a:pt x="12483465" y="2884678"/>
                    <a:pt x="12346940" y="2884678"/>
                  </a:cubicBezTo>
                  <a:lnTo>
                    <a:pt x="247142" y="2884678"/>
                  </a:lnTo>
                  <a:cubicBezTo>
                    <a:pt x="110617" y="2884678"/>
                    <a:pt x="0" y="2775458"/>
                    <a:pt x="0" y="264083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0" y="0"/>
              <a:ext cx="12644882" cy="2935478"/>
            </a:xfrm>
            <a:custGeom>
              <a:avLst/>
              <a:gdLst/>
              <a:ahLst/>
              <a:cxnLst/>
              <a:rect l="l" t="t" r="r" b="b"/>
              <a:pathLst>
                <a:path w="12644882" h="2935478">
                  <a:moveTo>
                    <a:pt x="0" y="269240"/>
                  </a:moveTo>
                  <a:cubicBezTo>
                    <a:pt x="0" y="120269"/>
                    <a:pt x="122301" y="0"/>
                    <a:pt x="272542" y="0"/>
                  </a:cubicBezTo>
                  <a:lnTo>
                    <a:pt x="12372340" y="0"/>
                  </a:lnTo>
                  <a:lnTo>
                    <a:pt x="12372340" y="25400"/>
                  </a:lnTo>
                  <a:lnTo>
                    <a:pt x="12372340" y="0"/>
                  </a:lnTo>
                  <a:cubicBezTo>
                    <a:pt x="12522581" y="0"/>
                    <a:pt x="12644882" y="120269"/>
                    <a:pt x="12644882" y="269240"/>
                  </a:cubicBezTo>
                  <a:lnTo>
                    <a:pt x="12619482" y="269240"/>
                  </a:lnTo>
                  <a:lnTo>
                    <a:pt x="12644882" y="269240"/>
                  </a:lnTo>
                  <a:lnTo>
                    <a:pt x="12644882" y="2666238"/>
                  </a:lnTo>
                  <a:lnTo>
                    <a:pt x="12619482" y="2666238"/>
                  </a:lnTo>
                  <a:lnTo>
                    <a:pt x="12644882" y="2666238"/>
                  </a:lnTo>
                  <a:cubicBezTo>
                    <a:pt x="12644882" y="2815209"/>
                    <a:pt x="12522581" y="2935478"/>
                    <a:pt x="12372340" y="2935478"/>
                  </a:cubicBezTo>
                  <a:lnTo>
                    <a:pt x="12372340" y="2910078"/>
                  </a:lnTo>
                  <a:lnTo>
                    <a:pt x="12372340" y="2935478"/>
                  </a:lnTo>
                  <a:lnTo>
                    <a:pt x="272542" y="2935478"/>
                  </a:lnTo>
                  <a:lnTo>
                    <a:pt x="272542" y="2910078"/>
                  </a:lnTo>
                  <a:lnTo>
                    <a:pt x="272542" y="2935478"/>
                  </a:lnTo>
                  <a:cubicBezTo>
                    <a:pt x="122301" y="2935478"/>
                    <a:pt x="0" y="2815209"/>
                    <a:pt x="0" y="266623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666238"/>
                  </a:lnTo>
                  <a:lnTo>
                    <a:pt x="25400" y="2666238"/>
                  </a:lnTo>
                  <a:lnTo>
                    <a:pt x="50800" y="2666238"/>
                  </a:lnTo>
                  <a:cubicBezTo>
                    <a:pt x="50800" y="2786507"/>
                    <a:pt x="149733" y="2884678"/>
                    <a:pt x="272542" y="2884678"/>
                  </a:cubicBezTo>
                  <a:lnTo>
                    <a:pt x="12372340" y="2884678"/>
                  </a:lnTo>
                  <a:cubicBezTo>
                    <a:pt x="12495149" y="2884678"/>
                    <a:pt x="12594082" y="2786507"/>
                    <a:pt x="12594082" y="2666238"/>
                  </a:cubicBezTo>
                  <a:lnTo>
                    <a:pt x="12594082" y="269240"/>
                  </a:lnTo>
                  <a:cubicBezTo>
                    <a:pt x="12594082" y="148971"/>
                    <a:pt x="12495149" y="50800"/>
                    <a:pt x="12372340" y="50800"/>
                  </a:cubicBezTo>
                  <a:lnTo>
                    <a:pt x="272542" y="50800"/>
                  </a:lnTo>
                  <a:lnTo>
                    <a:pt x="272542" y="25400"/>
                  </a:lnTo>
                  <a:lnTo>
                    <a:pt x="272542" y="50800"/>
                  </a:lnTo>
                  <a:cubicBezTo>
                    <a:pt x="149733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E5B2B7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4138" y="2723855"/>
            <a:ext cx="152400" cy="2163518"/>
            <a:chOff x="0" y="0"/>
            <a:chExt cx="203200" cy="2884691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203200" cy="2884678"/>
            </a:xfrm>
            <a:custGeom>
              <a:avLst/>
              <a:gdLst/>
              <a:ahLst/>
              <a:cxnLst/>
              <a:rect l="l" t="t" r="r" b="b"/>
              <a:pathLst>
                <a:path w="203200" h="2884678">
                  <a:moveTo>
                    <a:pt x="0" y="0"/>
                  </a:moveTo>
                  <a:lnTo>
                    <a:pt x="203200" y="0"/>
                  </a:lnTo>
                  <a:lnTo>
                    <a:pt x="203200" y="2884678"/>
                  </a:lnTo>
                  <a:lnTo>
                    <a:pt x="0" y="28846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31" r="-3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428159" y="3035941"/>
            <a:ext cx="4354716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A4A4A"/>
                </a:solidFill>
                <a:latin typeface="DM Sans Bold"/>
                <a:ea typeface="DM Sans Bold"/>
                <a:cs typeface="DM Sans Bold"/>
                <a:sym typeface="DM Sans Bold"/>
              </a:rPr>
              <a:t>C Programming Language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28159" y="3563245"/>
            <a:ext cx="8687991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Powerful language for understanding low-level memory management concepts.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73188" y="5151834"/>
            <a:ext cx="9483623" cy="1747990"/>
            <a:chOff x="0" y="0"/>
            <a:chExt cx="12644831" cy="2330653"/>
          </a:xfrm>
        </p:grpSpPr>
        <p:sp>
          <p:nvSpPr>
            <p:cNvPr id="21" name="Freeform 21"/>
            <p:cNvSpPr/>
            <p:nvPr/>
          </p:nvSpPr>
          <p:spPr>
            <a:xfrm>
              <a:off x="25400" y="25400"/>
              <a:ext cx="12594082" cy="2279904"/>
            </a:xfrm>
            <a:custGeom>
              <a:avLst/>
              <a:gdLst/>
              <a:ahLst/>
              <a:cxnLst/>
              <a:rect l="l" t="t" r="r" b="b"/>
              <a:pathLst>
                <a:path w="12594082" h="2279904">
                  <a:moveTo>
                    <a:pt x="0" y="243840"/>
                  </a:moveTo>
                  <a:cubicBezTo>
                    <a:pt x="0" y="109220"/>
                    <a:pt x="111125" y="0"/>
                    <a:pt x="248285" y="0"/>
                  </a:cubicBezTo>
                  <a:lnTo>
                    <a:pt x="12345797" y="0"/>
                  </a:lnTo>
                  <a:cubicBezTo>
                    <a:pt x="12482957" y="0"/>
                    <a:pt x="12594082" y="109220"/>
                    <a:pt x="12594082" y="243840"/>
                  </a:cubicBezTo>
                  <a:lnTo>
                    <a:pt x="12594082" y="2036064"/>
                  </a:lnTo>
                  <a:cubicBezTo>
                    <a:pt x="12594082" y="2170684"/>
                    <a:pt x="12482957" y="2279904"/>
                    <a:pt x="12345797" y="2279904"/>
                  </a:cubicBezTo>
                  <a:lnTo>
                    <a:pt x="248285" y="2279904"/>
                  </a:lnTo>
                  <a:cubicBezTo>
                    <a:pt x="111125" y="2279904"/>
                    <a:pt x="0" y="2170684"/>
                    <a:pt x="0" y="2036064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0" y="0"/>
              <a:ext cx="12644882" cy="2330704"/>
            </a:xfrm>
            <a:custGeom>
              <a:avLst/>
              <a:gdLst/>
              <a:ahLst/>
              <a:cxnLst/>
              <a:rect l="l" t="t" r="r" b="b"/>
              <a:pathLst>
                <a:path w="12644882" h="2330704">
                  <a:moveTo>
                    <a:pt x="0" y="269240"/>
                  </a:moveTo>
                  <a:cubicBezTo>
                    <a:pt x="0" y="120142"/>
                    <a:pt x="122936" y="0"/>
                    <a:pt x="273685" y="0"/>
                  </a:cubicBezTo>
                  <a:lnTo>
                    <a:pt x="12371197" y="0"/>
                  </a:lnTo>
                  <a:lnTo>
                    <a:pt x="12371197" y="25400"/>
                  </a:lnTo>
                  <a:lnTo>
                    <a:pt x="12371197" y="0"/>
                  </a:lnTo>
                  <a:cubicBezTo>
                    <a:pt x="12521946" y="0"/>
                    <a:pt x="12644882" y="120142"/>
                    <a:pt x="12644882" y="269240"/>
                  </a:cubicBezTo>
                  <a:lnTo>
                    <a:pt x="12619482" y="269240"/>
                  </a:lnTo>
                  <a:lnTo>
                    <a:pt x="12644882" y="269240"/>
                  </a:lnTo>
                  <a:lnTo>
                    <a:pt x="12644882" y="2061464"/>
                  </a:lnTo>
                  <a:lnTo>
                    <a:pt x="12619482" y="2061464"/>
                  </a:lnTo>
                  <a:lnTo>
                    <a:pt x="12644882" y="2061464"/>
                  </a:lnTo>
                  <a:cubicBezTo>
                    <a:pt x="12644882" y="2210562"/>
                    <a:pt x="12521946" y="2330704"/>
                    <a:pt x="12371197" y="2330704"/>
                  </a:cubicBezTo>
                  <a:lnTo>
                    <a:pt x="12371197" y="2305304"/>
                  </a:lnTo>
                  <a:lnTo>
                    <a:pt x="12371197" y="2330704"/>
                  </a:lnTo>
                  <a:lnTo>
                    <a:pt x="273685" y="2330704"/>
                  </a:lnTo>
                  <a:lnTo>
                    <a:pt x="273685" y="2305304"/>
                  </a:lnTo>
                  <a:lnTo>
                    <a:pt x="273685" y="2330704"/>
                  </a:lnTo>
                  <a:cubicBezTo>
                    <a:pt x="122936" y="2330704"/>
                    <a:pt x="0" y="2210562"/>
                    <a:pt x="0" y="2061464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061464"/>
                  </a:lnTo>
                  <a:lnTo>
                    <a:pt x="25400" y="2061464"/>
                  </a:lnTo>
                  <a:lnTo>
                    <a:pt x="50800" y="2061464"/>
                  </a:lnTo>
                  <a:cubicBezTo>
                    <a:pt x="50800" y="2181733"/>
                    <a:pt x="150114" y="2279904"/>
                    <a:pt x="273685" y="2279904"/>
                  </a:cubicBezTo>
                  <a:lnTo>
                    <a:pt x="12371197" y="2279904"/>
                  </a:lnTo>
                  <a:cubicBezTo>
                    <a:pt x="12494768" y="2279904"/>
                    <a:pt x="12594082" y="2181733"/>
                    <a:pt x="12594082" y="2061464"/>
                  </a:cubicBezTo>
                  <a:lnTo>
                    <a:pt x="12594082" y="269240"/>
                  </a:lnTo>
                  <a:cubicBezTo>
                    <a:pt x="12594082" y="148971"/>
                    <a:pt x="12494768" y="50800"/>
                    <a:pt x="12371197" y="50800"/>
                  </a:cubicBezTo>
                  <a:lnTo>
                    <a:pt x="273685" y="50800"/>
                  </a:lnTo>
                  <a:lnTo>
                    <a:pt x="273685" y="25400"/>
                  </a:lnTo>
                  <a:lnTo>
                    <a:pt x="273685" y="50800"/>
                  </a:lnTo>
                  <a:cubicBezTo>
                    <a:pt x="150114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E5B2B7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4138" y="5170884"/>
            <a:ext cx="152400" cy="1709890"/>
            <a:chOff x="0" y="0"/>
            <a:chExt cx="203200" cy="2279853"/>
          </a:xfrm>
        </p:grpSpPr>
        <p:sp>
          <p:nvSpPr>
            <p:cNvPr id="24" name="Freeform 24" descr="preencoded.png"/>
            <p:cNvSpPr/>
            <p:nvPr/>
          </p:nvSpPr>
          <p:spPr>
            <a:xfrm>
              <a:off x="0" y="0"/>
              <a:ext cx="203200" cy="2279904"/>
            </a:xfrm>
            <a:custGeom>
              <a:avLst/>
              <a:gdLst/>
              <a:ahLst/>
              <a:cxnLst/>
              <a:rect l="l" t="t" r="r" b="b"/>
              <a:pathLst>
                <a:path w="203200" h="2279904">
                  <a:moveTo>
                    <a:pt x="0" y="0"/>
                  </a:moveTo>
                  <a:lnTo>
                    <a:pt x="203200" y="0"/>
                  </a:lnTo>
                  <a:lnTo>
                    <a:pt x="203200" y="2279904"/>
                  </a:lnTo>
                  <a:lnTo>
                    <a:pt x="0" y="2279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134" b="-13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428159" y="5482981"/>
            <a:ext cx="3586162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A4A4A"/>
                </a:solidFill>
                <a:latin typeface="DM Sans Bold"/>
                <a:ea typeface="DM Sans Bold"/>
                <a:cs typeface="DM Sans Bold"/>
                <a:sym typeface="DM Sans Bold"/>
              </a:rPr>
              <a:t>CodeBlocks/Dev C++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28159" y="6010275"/>
            <a:ext cx="868799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Simple, easy-to-use compilers for Windows operating system.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973188" y="7145236"/>
            <a:ext cx="9483623" cy="1747990"/>
            <a:chOff x="0" y="0"/>
            <a:chExt cx="12644831" cy="2330653"/>
          </a:xfrm>
        </p:grpSpPr>
        <p:sp>
          <p:nvSpPr>
            <p:cNvPr id="28" name="Freeform 28"/>
            <p:cNvSpPr/>
            <p:nvPr/>
          </p:nvSpPr>
          <p:spPr>
            <a:xfrm>
              <a:off x="25400" y="25400"/>
              <a:ext cx="12594082" cy="2279904"/>
            </a:xfrm>
            <a:custGeom>
              <a:avLst/>
              <a:gdLst/>
              <a:ahLst/>
              <a:cxnLst/>
              <a:rect l="l" t="t" r="r" b="b"/>
              <a:pathLst>
                <a:path w="12594082" h="2279904">
                  <a:moveTo>
                    <a:pt x="0" y="243840"/>
                  </a:moveTo>
                  <a:cubicBezTo>
                    <a:pt x="0" y="109220"/>
                    <a:pt x="111125" y="0"/>
                    <a:pt x="248285" y="0"/>
                  </a:cubicBezTo>
                  <a:lnTo>
                    <a:pt x="12345797" y="0"/>
                  </a:lnTo>
                  <a:cubicBezTo>
                    <a:pt x="12482957" y="0"/>
                    <a:pt x="12594082" y="109220"/>
                    <a:pt x="12594082" y="243840"/>
                  </a:cubicBezTo>
                  <a:lnTo>
                    <a:pt x="12594082" y="2036064"/>
                  </a:lnTo>
                  <a:cubicBezTo>
                    <a:pt x="12594082" y="2170684"/>
                    <a:pt x="12482957" y="2279904"/>
                    <a:pt x="12345797" y="2279904"/>
                  </a:cubicBezTo>
                  <a:lnTo>
                    <a:pt x="248285" y="2279904"/>
                  </a:lnTo>
                  <a:cubicBezTo>
                    <a:pt x="111125" y="2279904"/>
                    <a:pt x="0" y="2170684"/>
                    <a:pt x="0" y="2036064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0" y="0"/>
              <a:ext cx="12644882" cy="2330704"/>
            </a:xfrm>
            <a:custGeom>
              <a:avLst/>
              <a:gdLst/>
              <a:ahLst/>
              <a:cxnLst/>
              <a:rect l="l" t="t" r="r" b="b"/>
              <a:pathLst>
                <a:path w="12644882" h="2330704">
                  <a:moveTo>
                    <a:pt x="0" y="269240"/>
                  </a:moveTo>
                  <a:cubicBezTo>
                    <a:pt x="0" y="120142"/>
                    <a:pt x="122936" y="0"/>
                    <a:pt x="273685" y="0"/>
                  </a:cubicBezTo>
                  <a:lnTo>
                    <a:pt x="12371197" y="0"/>
                  </a:lnTo>
                  <a:lnTo>
                    <a:pt x="12371197" y="25400"/>
                  </a:lnTo>
                  <a:lnTo>
                    <a:pt x="12371197" y="0"/>
                  </a:lnTo>
                  <a:cubicBezTo>
                    <a:pt x="12521946" y="0"/>
                    <a:pt x="12644882" y="120142"/>
                    <a:pt x="12644882" y="269240"/>
                  </a:cubicBezTo>
                  <a:lnTo>
                    <a:pt x="12619482" y="269240"/>
                  </a:lnTo>
                  <a:lnTo>
                    <a:pt x="12644882" y="269240"/>
                  </a:lnTo>
                  <a:lnTo>
                    <a:pt x="12644882" y="2061464"/>
                  </a:lnTo>
                  <a:lnTo>
                    <a:pt x="12619482" y="2061464"/>
                  </a:lnTo>
                  <a:lnTo>
                    <a:pt x="12644882" y="2061464"/>
                  </a:lnTo>
                  <a:cubicBezTo>
                    <a:pt x="12644882" y="2210562"/>
                    <a:pt x="12521946" y="2330704"/>
                    <a:pt x="12371197" y="2330704"/>
                  </a:cubicBezTo>
                  <a:lnTo>
                    <a:pt x="12371197" y="2305304"/>
                  </a:lnTo>
                  <a:lnTo>
                    <a:pt x="12371197" y="2330704"/>
                  </a:lnTo>
                  <a:lnTo>
                    <a:pt x="273685" y="2330704"/>
                  </a:lnTo>
                  <a:lnTo>
                    <a:pt x="273685" y="2305304"/>
                  </a:lnTo>
                  <a:lnTo>
                    <a:pt x="273685" y="2330704"/>
                  </a:lnTo>
                  <a:cubicBezTo>
                    <a:pt x="122936" y="2330704"/>
                    <a:pt x="0" y="2210562"/>
                    <a:pt x="0" y="2061464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061464"/>
                  </a:lnTo>
                  <a:lnTo>
                    <a:pt x="25400" y="2061464"/>
                  </a:lnTo>
                  <a:lnTo>
                    <a:pt x="50800" y="2061464"/>
                  </a:lnTo>
                  <a:cubicBezTo>
                    <a:pt x="50800" y="2181733"/>
                    <a:pt x="150114" y="2279904"/>
                    <a:pt x="273685" y="2279904"/>
                  </a:cubicBezTo>
                  <a:lnTo>
                    <a:pt x="12371197" y="2279904"/>
                  </a:lnTo>
                  <a:cubicBezTo>
                    <a:pt x="12494768" y="2279904"/>
                    <a:pt x="12594082" y="2181733"/>
                    <a:pt x="12594082" y="2061464"/>
                  </a:cubicBezTo>
                  <a:lnTo>
                    <a:pt x="12594082" y="269240"/>
                  </a:lnTo>
                  <a:cubicBezTo>
                    <a:pt x="12594082" y="148971"/>
                    <a:pt x="12494768" y="50800"/>
                    <a:pt x="12371197" y="50800"/>
                  </a:cubicBezTo>
                  <a:lnTo>
                    <a:pt x="273685" y="50800"/>
                  </a:lnTo>
                  <a:lnTo>
                    <a:pt x="273685" y="25400"/>
                  </a:lnTo>
                  <a:lnTo>
                    <a:pt x="273685" y="50800"/>
                  </a:lnTo>
                  <a:cubicBezTo>
                    <a:pt x="150114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E5B2B7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54138" y="7164286"/>
            <a:ext cx="152400" cy="1709890"/>
            <a:chOff x="0" y="0"/>
            <a:chExt cx="203200" cy="2279853"/>
          </a:xfrm>
        </p:grpSpPr>
        <p:sp>
          <p:nvSpPr>
            <p:cNvPr id="31" name="Freeform 31" descr="preencoded.png"/>
            <p:cNvSpPr/>
            <p:nvPr/>
          </p:nvSpPr>
          <p:spPr>
            <a:xfrm>
              <a:off x="0" y="0"/>
              <a:ext cx="203200" cy="2279904"/>
            </a:xfrm>
            <a:custGeom>
              <a:avLst/>
              <a:gdLst/>
              <a:ahLst/>
              <a:cxnLst/>
              <a:rect l="l" t="t" r="r" b="b"/>
              <a:pathLst>
                <a:path w="203200" h="2279904">
                  <a:moveTo>
                    <a:pt x="0" y="0"/>
                  </a:moveTo>
                  <a:lnTo>
                    <a:pt x="203200" y="0"/>
                  </a:lnTo>
                  <a:lnTo>
                    <a:pt x="203200" y="2279904"/>
                  </a:lnTo>
                  <a:lnTo>
                    <a:pt x="0" y="2279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134" b="-13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428159" y="7476382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A4A4A"/>
                </a:solidFill>
                <a:latin typeface="DM Sans Bold"/>
                <a:ea typeface="DM Sans Bold"/>
                <a:cs typeface="DM Sans Bold"/>
                <a:sym typeface="DM Sans Bold"/>
              </a:rPr>
              <a:t>Console Interface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28159" y="8003677"/>
            <a:ext cx="868799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Text-based interface for user interaction and menu selection.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348978" y="610495"/>
            <a:ext cx="8495852" cy="724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437" b="1">
                <a:solidFill>
                  <a:srgbClr val="9C5461"/>
                </a:solidFill>
                <a:latin typeface="DM Sans Bold"/>
                <a:ea typeface="DM Sans Bold"/>
                <a:cs typeface="DM Sans Bold"/>
                <a:sym typeface="DM Sans Bold"/>
              </a:rPr>
              <a:t>Data Structure Implementation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39796" y="2860482"/>
            <a:ext cx="2833345" cy="7085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 b="1" dirty="0">
                <a:solidFill>
                  <a:srgbClr val="9C5461"/>
                </a:solidFill>
                <a:latin typeface="DM Sans Bold"/>
                <a:ea typeface="DM Sans Bold"/>
                <a:cs typeface="DM Sans Bold"/>
                <a:sym typeface="DM Sans Bold"/>
              </a:rPr>
              <a:t>Linked List Approach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43000" y="3699425"/>
            <a:ext cx="10146354" cy="6343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2000" dirty="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Each book represented as a node containing book ID, title, author, and issue status. Nodes connected using pointers for efficient traversal.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3000" y="4610100"/>
            <a:ext cx="4043210" cy="3494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 b="1" dirty="0">
                <a:solidFill>
                  <a:srgbClr val="9C5461"/>
                </a:solidFill>
                <a:latin typeface="DM Sans Bold"/>
                <a:ea typeface="DM Sans Bold"/>
                <a:cs typeface="DM Sans Bold"/>
                <a:sym typeface="DM Sans Bold"/>
              </a:rPr>
              <a:t>Dynamic Memory Allocation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43000" y="5143500"/>
            <a:ext cx="10146354" cy="6343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2000" dirty="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Memory allocated when needed instead of predefined array size. Enables flexible insertion and deletion without data shifting.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3000" y="6086466"/>
            <a:ext cx="3030140" cy="3494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 b="1" dirty="0">
                <a:solidFill>
                  <a:srgbClr val="9C5461"/>
                </a:solidFill>
                <a:latin typeface="DM Sans Bold"/>
                <a:ea typeface="DM Sans Bold"/>
                <a:cs typeface="DM Sans Bold"/>
                <a:sym typeface="DM Sans Bold"/>
              </a:rPr>
              <a:t>Efficient Operations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39796" y="6753716"/>
            <a:ext cx="9949558" cy="6343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2000" dirty="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Better memory usage and program efficiency through pointer-based connections between nodes.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1850138" y="1807816"/>
            <a:ext cx="5098104" cy="7647089"/>
            <a:chOff x="0" y="0"/>
            <a:chExt cx="6797472" cy="10196119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6797421" cy="10196068"/>
            </a:xfrm>
            <a:custGeom>
              <a:avLst/>
              <a:gdLst/>
              <a:ahLst/>
              <a:cxnLst/>
              <a:rect l="l" t="t" r="r" b="b"/>
              <a:pathLst>
                <a:path w="6797421" h="10196068">
                  <a:moveTo>
                    <a:pt x="0" y="0"/>
                  </a:moveTo>
                  <a:lnTo>
                    <a:pt x="6797421" y="0"/>
                  </a:lnTo>
                  <a:lnTo>
                    <a:pt x="6797421" y="10196068"/>
                  </a:lnTo>
                  <a:lnTo>
                    <a:pt x="0" y="101960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1" b="-3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1017089"/>
            <a:ext cx="7088238" cy="90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9C5461"/>
                </a:solidFill>
                <a:latin typeface="DM Sans Bold"/>
                <a:ea typeface="DM Sans Bold"/>
                <a:cs typeface="DM Sans Bold"/>
                <a:sym typeface="DM Sans Bold"/>
              </a:rPr>
              <a:t>System Workflow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238" y="2489149"/>
            <a:ext cx="8151762" cy="1134066"/>
            <a:chOff x="0" y="0"/>
            <a:chExt cx="10869016" cy="1512087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0869041" cy="1512062"/>
            </a:xfrm>
            <a:custGeom>
              <a:avLst/>
              <a:gdLst/>
              <a:ahLst/>
              <a:cxnLst/>
              <a:rect l="l" t="t" r="r" b="b"/>
              <a:pathLst>
                <a:path w="10869041" h="1512062">
                  <a:moveTo>
                    <a:pt x="0" y="0"/>
                  </a:moveTo>
                  <a:lnTo>
                    <a:pt x="10869041" y="0"/>
                  </a:lnTo>
                  <a:lnTo>
                    <a:pt x="10869041" y="1512062"/>
                  </a:lnTo>
                  <a:lnTo>
                    <a:pt x="0" y="1512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6" r="-35" b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75759" y="3897211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A4A4A"/>
                </a:solidFill>
                <a:latin typeface="DM Sans Bold"/>
                <a:ea typeface="DM Sans Bold"/>
                <a:cs typeface="DM Sans Bold"/>
                <a:sym typeface="DM Sans Bold"/>
              </a:rPr>
              <a:t>Menu Display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75759" y="4424515"/>
            <a:ext cx="7584729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Program starts showing user options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144000" y="2489149"/>
            <a:ext cx="8151762" cy="1134066"/>
            <a:chOff x="0" y="0"/>
            <a:chExt cx="10869016" cy="1512087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10869041" cy="1512062"/>
            </a:xfrm>
            <a:custGeom>
              <a:avLst/>
              <a:gdLst/>
              <a:ahLst/>
              <a:cxnLst/>
              <a:rect l="l" t="t" r="r" b="b"/>
              <a:pathLst>
                <a:path w="10869041" h="1512062">
                  <a:moveTo>
                    <a:pt x="0" y="0"/>
                  </a:moveTo>
                  <a:lnTo>
                    <a:pt x="10869041" y="0"/>
                  </a:lnTo>
                  <a:lnTo>
                    <a:pt x="10869041" y="1512062"/>
                  </a:lnTo>
                  <a:lnTo>
                    <a:pt x="0" y="1512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6" r="-35" b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427521" y="3897211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A4A4A"/>
                </a:solidFill>
                <a:latin typeface="DM Sans Bold"/>
                <a:ea typeface="DM Sans Bold"/>
                <a:cs typeface="DM Sans Bold"/>
                <a:sym typeface="DM Sans Bold"/>
              </a:rPr>
              <a:t>User Selection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27521" y="4424515"/>
            <a:ext cx="7584729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Choose operation from menu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92238" y="5256905"/>
            <a:ext cx="8151762" cy="1134066"/>
            <a:chOff x="0" y="0"/>
            <a:chExt cx="10869016" cy="1512087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10869041" cy="1512062"/>
            </a:xfrm>
            <a:custGeom>
              <a:avLst/>
              <a:gdLst/>
              <a:ahLst/>
              <a:cxnLst/>
              <a:rect l="l" t="t" r="r" b="b"/>
              <a:pathLst>
                <a:path w="10869041" h="1512062">
                  <a:moveTo>
                    <a:pt x="0" y="0"/>
                  </a:moveTo>
                  <a:lnTo>
                    <a:pt x="10869041" y="0"/>
                  </a:lnTo>
                  <a:lnTo>
                    <a:pt x="10869041" y="1512062"/>
                  </a:lnTo>
                  <a:lnTo>
                    <a:pt x="0" y="1512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6" r="-35" b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275759" y="6664966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A4A4A"/>
                </a:solidFill>
                <a:latin typeface="DM Sans Bold"/>
                <a:ea typeface="DM Sans Bold"/>
                <a:cs typeface="DM Sans Bold"/>
                <a:sym typeface="DM Sans Bold"/>
              </a:rPr>
              <a:t>Operation Execution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75759" y="7192270"/>
            <a:ext cx="7584729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System processes selected task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144000" y="5256905"/>
            <a:ext cx="8151762" cy="1134066"/>
            <a:chOff x="0" y="0"/>
            <a:chExt cx="10869016" cy="1512087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10869041" cy="1512062"/>
            </a:xfrm>
            <a:custGeom>
              <a:avLst/>
              <a:gdLst/>
              <a:ahLst/>
              <a:cxnLst/>
              <a:rect l="l" t="t" r="r" b="b"/>
              <a:pathLst>
                <a:path w="10869041" h="1512062">
                  <a:moveTo>
                    <a:pt x="0" y="0"/>
                  </a:moveTo>
                  <a:lnTo>
                    <a:pt x="10869041" y="0"/>
                  </a:lnTo>
                  <a:lnTo>
                    <a:pt x="10869041" y="1512062"/>
                  </a:lnTo>
                  <a:lnTo>
                    <a:pt x="0" y="1512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36" r="-35" b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9427521" y="6664966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A4A4A"/>
                </a:solidFill>
                <a:latin typeface="DM Sans Bold"/>
                <a:ea typeface="DM Sans Bold"/>
                <a:cs typeface="DM Sans Bold"/>
                <a:sym typeface="DM Sans Bold"/>
              </a:rPr>
              <a:t>Continue or Exit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27521" y="7192270"/>
            <a:ext cx="7584729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Loop until exit option chosen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92238" y="8248355"/>
            <a:ext cx="16303523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Operations include adding books (new node creation), displaying records (list traversal), searching by ID (node comparison), and managing issue status (data modification).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2140448"/>
            <a:ext cx="7088238" cy="90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9C5461"/>
                </a:solidFill>
                <a:latin typeface="DM Sans Bold"/>
                <a:ea typeface="DM Sans Bold"/>
                <a:cs typeface="DM Sans Bold"/>
                <a:sym typeface="DM Sans Bold"/>
              </a:rPr>
              <a:t>Key Features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992238" y="3612509"/>
            <a:ext cx="708717" cy="708717"/>
          </a:xfrm>
          <a:custGeom>
            <a:avLst/>
            <a:gdLst/>
            <a:ahLst/>
            <a:cxnLst/>
            <a:rect l="l" t="t" r="r" b="b"/>
            <a:pathLst>
              <a:path w="708717" h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666" r="-66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2055314" y="3602984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A4A4A"/>
                </a:solidFill>
                <a:latin typeface="DM Sans Bold"/>
                <a:ea typeface="DM Sans Bold"/>
                <a:cs typeface="DM Sans Bold"/>
                <a:sym typeface="DM Sans Bold"/>
              </a:rPr>
              <a:t>Add Books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55314" y="4130278"/>
            <a:ext cx="4135193" cy="1456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Enter book details including ID, title, and author to create new records.</a:t>
            </a:r>
          </a:p>
        </p:txBody>
      </p:sp>
      <p:sp>
        <p:nvSpPr>
          <p:cNvPr id="10" name="Freeform 10" descr="preencoded.png"/>
          <p:cNvSpPr/>
          <p:nvPr/>
        </p:nvSpPr>
        <p:spPr>
          <a:xfrm>
            <a:off x="6544866" y="3612509"/>
            <a:ext cx="708717" cy="708717"/>
          </a:xfrm>
          <a:custGeom>
            <a:avLst/>
            <a:gdLst/>
            <a:ahLst/>
            <a:cxnLst/>
            <a:rect l="l" t="t" r="r" b="b"/>
            <a:pathLst>
              <a:path w="708717" h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8667" b="-866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7607941" y="3602984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A4A4A"/>
                </a:solidFill>
                <a:latin typeface="DM Sans Bold"/>
                <a:ea typeface="DM Sans Bold"/>
                <a:cs typeface="DM Sans Bold"/>
                <a:sym typeface="DM Sans Bold"/>
              </a:rPr>
              <a:t>Display All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07941" y="4130278"/>
            <a:ext cx="4135193" cy="1456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View all books in organized format with complete information.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12097493" y="3612509"/>
            <a:ext cx="708717" cy="708717"/>
          </a:xfrm>
          <a:custGeom>
            <a:avLst/>
            <a:gdLst/>
            <a:ahLst/>
            <a:cxnLst/>
            <a:rect l="l" t="t" r="r" b="b"/>
            <a:pathLst>
              <a:path w="708717" h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666" b="-66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TextBox 14"/>
          <p:cNvSpPr txBox="1"/>
          <p:nvPr/>
        </p:nvSpPr>
        <p:spPr>
          <a:xfrm>
            <a:off x="13160578" y="3602984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A4A4A"/>
                </a:solidFill>
                <a:latin typeface="DM Sans Bold"/>
                <a:ea typeface="DM Sans Bold"/>
                <a:cs typeface="DM Sans Bold"/>
                <a:sym typeface="DM Sans Bold"/>
              </a:rPr>
              <a:t>Search by ID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160578" y="4130278"/>
            <a:ext cx="4135193" cy="1456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Quickly locate specific books using unique identification numbers.</a:t>
            </a:r>
          </a:p>
        </p:txBody>
      </p:sp>
      <p:sp>
        <p:nvSpPr>
          <p:cNvPr id="16" name="Freeform 16" descr="preencoded.png"/>
          <p:cNvSpPr/>
          <p:nvPr/>
        </p:nvSpPr>
        <p:spPr>
          <a:xfrm>
            <a:off x="992238" y="6153445"/>
            <a:ext cx="708717" cy="708717"/>
          </a:xfrm>
          <a:custGeom>
            <a:avLst/>
            <a:gdLst/>
            <a:ahLst/>
            <a:cxnLst/>
            <a:rect l="l" t="t" r="r" b="b"/>
            <a:pathLst>
              <a:path w="708717" h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14000" b="-1400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TextBox 17"/>
          <p:cNvSpPr txBox="1"/>
          <p:nvPr/>
        </p:nvSpPr>
        <p:spPr>
          <a:xfrm>
            <a:off x="2055314" y="6143920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A4A4A"/>
                </a:solidFill>
                <a:latin typeface="DM Sans Bold"/>
                <a:ea typeface="DM Sans Bold"/>
                <a:cs typeface="DM Sans Bold"/>
                <a:sym typeface="DM Sans Bold"/>
              </a:rPr>
              <a:t>Issue &amp; Return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055314" y="6671224"/>
            <a:ext cx="4135193" cy="1456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Update book status when lending to users or receiving returns.</a:t>
            </a:r>
          </a:p>
        </p:txBody>
      </p:sp>
      <p:sp>
        <p:nvSpPr>
          <p:cNvPr id="19" name="Freeform 19" descr="preencoded.png"/>
          <p:cNvSpPr/>
          <p:nvPr/>
        </p:nvSpPr>
        <p:spPr>
          <a:xfrm>
            <a:off x="6544866" y="6153445"/>
            <a:ext cx="708717" cy="708717"/>
          </a:xfrm>
          <a:custGeom>
            <a:avLst/>
            <a:gdLst/>
            <a:ahLst/>
            <a:cxnLst/>
            <a:rect l="l" t="t" r="r" b="b"/>
            <a:pathLst>
              <a:path w="708717" h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TextBox 20"/>
          <p:cNvSpPr txBox="1"/>
          <p:nvPr/>
        </p:nvSpPr>
        <p:spPr>
          <a:xfrm>
            <a:off x="7607941" y="6143920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A4A4A"/>
                </a:solidFill>
                <a:latin typeface="DM Sans Bold"/>
                <a:ea typeface="DM Sans Bold"/>
                <a:cs typeface="DM Sans Bold"/>
                <a:sym typeface="DM Sans Bold"/>
              </a:rPr>
              <a:t>Delete Books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607941" y="6671224"/>
            <a:ext cx="4135193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Remove books from system and free allocated memory.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CCD1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1684" y="212522"/>
            <a:ext cx="6574631" cy="9861947"/>
            <a:chOff x="0" y="0"/>
            <a:chExt cx="8766175" cy="13149262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8766175" cy="13149326"/>
            </a:xfrm>
            <a:custGeom>
              <a:avLst/>
              <a:gdLst/>
              <a:ahLst/>
              <a:cxnLst/>
              <a:rect l="l" t="t" r="r" b="b"/>
              <a:pathLst>
                <a:path w="8766175" h="13149326">
                  <a:moveTo>
                    <a:pt x="0" y="0"/>
                  </a:moveTo>
                  <a:lnTo>
                    <a:pt x="8766175" y="0"/>
                  </a:lnTo>
                  <a:lnTo>
                    <a:pt x="8766175" y="13149326"/>
                  </a:lnTo>
                  <a:lnTo>
                    <a:pt x="0" y="13149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7850238" y="1447952"/>
            <a:ext cx="8758390" cy="90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9C5461"/>
                </a:solidFill>
                <a:latin typeface="DM Sans Bold"/>
                <a:ea typeface="DM Sans Bold"/>
                <a:cs typeface="DM Sans Bold"/>
                <a:sym typeface="DM Sans Bold"/>
              </a:rPr>
              <a:t>Advantages &amp; Limitations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50238" y="3052172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FF2E45"/>
                </a:solidFill>
                <a:latin typeface="DM Sans Bold"/>
                <a:ea typeface="DM Sans Bold"/>
                <a:cs typeface="DM Sans Bold"/>
                <a:sym typeface="DM Sans Bold"/>
              </a:rPr>
              <a:t>✓</a:t>
            </a:r>
            <a:r>
              <a:rPr lang="en-US" sz="2750" b="1">
                <a:solidFill>
                  <a:srgbClr val="9C5461"/>
                </a:solidFill>
                <a:latin typeface="DM Sans Bold"/>
                <a:ea typeface="DM Sans Bold"/>
                <a:cs typeface="DM Sans Bold"/>
                <a:sym typeface="DM Sans Bold"/>
              </a:rPr>
              <a:t> Advantages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850238" y="3692871"/>
            <a:ext cx="4376890" cy="5028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Simple and beginner-friendly design</a:t>
            </a:r>
          </a:p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Efficient dynamic memory usage</a:t>
            </a:r>
          </a:p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Easier insertion and deletion operations</a:t>
            </a:r>
          </a:p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Practical programming skill development</a:t>
            </a:r>
          </a:p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Real-world application understanding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928397" y="3052172"/>
            <a:ext cx="3544043" cy="461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⚠</a:t>
            </a:r>
            <a:r>
              <a:rPr lang="en-US" sz="2750" b="1">
                <a:solidFill>
                  <a:srgbClr val="9C5461"/>
                </a:solidFill>
                <a:latin typeface="DM Sans Bold"/>
                <a:ea typeface="DM Sans Bold"/>
                <a:cs typeface="DM Sans Bold"/>
                <a:sym typeface="DM Sans Bold"/>
              </a:rPr>
              <a:t> Limitations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928397" y="3702396"/>
            <a:ext cx="4376890" cy="3312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No graphical user interface</a:t>
            </a:r>
          </a:p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Console-based only</a:t>
            </a:r>
          </a:p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Temporary data storage</a:t>
            </a:r>
          </a:p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No file handling</a:t>
            </a:r>
          </a:p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Lacks user authentication</a:t>
            </a:r>
          </a:p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No database integration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49015" y="9686925"/>
            <a:ext cx="2153260" cy="514350"/>
            <a:chOff x="0" y="0"/>
            <a:chExt cx="2871013" cy="685800"/>
          </a:xfrm>
        </p:grpSpPr>
        <p:sp>
          <p:nvSpPr>
            <p:cNvPr id="7" name="Freeform 7" descr="preencoded.png">
              <a:hlinkClick r:id="rId4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CCD1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571684" y="212522"/>
            <a:ext cx="6574631" cy="9861947"/>
            <a:chOff x="0" y="0"/>
            <a:chExt cx="8766175" cy="13149262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8766175" cy="13149326"/>
            </a:xfrm>
            <a:custGeom>
              <a:avLst/>
              <a:gdLst/>
              <a:ahLst/>
              <a:cxnLst/>
              <a:rect l="l" t="t" r="r" b="b"/>
              <a:pathLst>
                <a:path w="8766175" h="13149326">
                  <a:moveTo>
                    <a:pt x="0" y="0"/>
                  </a:moveTo>
                  <a:lnTo>
                    <a:pt x="8766175" y="0"/>
                  </a:lnTo>
                  <a:lnTo>
                    <a:pt x="8766175" y="13149326"/>
                  </a:lnTo>
                  <a:lnTo>
                    <a:pt x="0" y="13149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92238" y="773754"/>
            <a:ext cx="7088238" cy="90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9C5461"/>
                </a:solidFill>
                <a:latin typeface="DM Sans Bold"/>
                <a:ea typeface="DM Sans Bold"/>
                <a:cs typeface="DM Sans Bold"/>
                <a:sym typeface="DM Sans Bold"/>
              </a:rPr>
              <a:t>Conclusion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17434" y="2327672"/>
            <a:ext cx="9020327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This Library Management System provides valuable hands-on experience applying programming concepts to real-world scenarios.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92238" y="2103987"/>
            <a:ext cx="38100" cy="1545136"/>
            <a:chOff x="0" y="0"/>
            <a:chExt cx="50800" cy="206018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0800" cy="2060194"/>
            </a:xfrm>
            <a:custGeom>
              <a:avLst/>
              <a:gdLst/>
              <a:ahLst/>
              <a:cxnLst/>
              <a:rect l="l" t="t" r="r" b="b"/>
              <a:pathLst>
                <a:path w="50800" h="2060194">
                  <a:moveTo>
                    <a:pt x="0" y="0"/>
                  </a:moveTo>
                  <a:lnTo>
                    <a:pt x="50800" y="0"/>
                  </a:lnTo>
                  <a:lnTo>
                    <a:pt x="50800" y="2060194"/>
                  </a:lnTo>
                  <a:lnTo>
                    <a:pt x="0" y="2060194"/>
                  </a:lnTo>
                  <a:close/>
                </a:path>
              </a:pathLst>
            </a:custGeom>
            <a:solidFill>
              <a:srgbClr val="FFC7CD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992238" y="3872808"/>
            <a:ext cx="567033" cy="4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01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92238" y="4411866"/>
            <a:ext cx="4580934" cy="38100"/>
            <a:chOff x="0" y="0"/>
            <a:chExt cx="6107913" cy="50800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6107938" cy="50800"/>
            </a:xfrm>
            <a:custGeom>
              <a:avLst/>
              <a:gdLst/>
              <a:ahLst/>
              <a:cxnLst/>
              <a:rect l="l" t="t" r="r" b="b"/>
              <a:pathLst>
                <a:path w="6107938" h="50800">
                  <a:moveTo>
                    <a:pt x="0" y="0"/>
                  </a:moveTo>
                  <a:lnTo>
                    <a:pt x="6107938" y="0"/>
                  </a:lnTo>
                  <a:lnTo>
                    <a:pt x="6107938" y="50800"/>
                  </a:lnTo>
                  <a:lnTo>
                    <a:pt x="0" y="5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6" r="-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992238" y="4620216"/>
            <a:ext cx="3813124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A4A4A"/>
                </a:solidFill>
                <a:latin typeface="DM Sans Bold"/>
                <a:ea typeface="DM Sans Bold"/>
                <a:cs typeface="DM Sans Bold"/>
                <a:sym typeface="DM Sans Bold"/>
              </a:rPr>
              <a:t>Learning Achievement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92238" y="5147520"/>
            <a:ext cx="4580934" cy="1456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Mastered linked lists, pointers, and dynamic memory allocation through practical implementation.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856684" y="3872808"/>
            <a:ext cx="567033" cy="4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02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5856684" y="4411866"/>
            <a:ext cx="4581077" cy="38100"/>
            <a:chOff x="0" y="0"/>
            <a:chExt cx="6108103" cy="50800"/>
          </a:xfrm>
        </p:grpSpPr>
        <p:sp>
          <p:nvSpPr>
            <p:cNvPr id="23" name="Freeform 23" descr="preencoded.png"/>
            <p:cNvSpPr/>
            <p:nvPr/>
          </p:nvSpPr>
          <p:spPr>
            <a:xfrm>
              <a:off x="0" y="0"/>
              <a:ext cx="6108065" cy="50800"/>
            </a:xfrm>
            <a:custGeom>
              <a:avLst/>
              <a:gdLst/>
              <a:ahLst/>
              <a:cxnLst/>
              <a:rect l="l" t="t" r="r" b="b"/>
              <a:pathLst>
                <a:path w="6108065" h="50800">
                  <a:moveTo>
                    <a:pt x="0" y="0"/>
                  </a:moveTo>
                  <a:lnTo>
                    <a:pt x="6108065" y="0"/>
                  </a:lnTo>
                  <a:lnTo>
                    <a:pt x="6108065" y="50800"/>
                  </a:lnTo>
                  <a:lnTo>
                    <a:pt x="0" y="5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" r="-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5856684" y="4620216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A4A4A"/>
                </a:solidFill>
                <a:latin typeface="DM Sans Bold"/>
                <a:ea typeface="DM Sans Bold"/>
                <a:cs typeface="DM Sans Bold"/>
                <a:sym typeface="DM Sans Bold"/>
              </a:rPr>
              <a:t>Functional System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856684" y="5147520"/>
            <a:ext cx="4581077" cy="1456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Built working system performing all essential library operations with organized structure.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92238" y="7004447"/>
            <a:ext cx="567033" cy="4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03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992238" y="7515073"/>
            <a:ext cx="9445523" cy="38100"/>
            <a:chOff x="0" y="0"/>
            <a:chExt cx="12594031" cy="50800"/>
          </a:xfrm>
        </p:grpSpPr>
        <p:sp>
          <p:nvSpPr>
            <p:cNvPr id="28" name="Freeform 28" descr="preencoded.png"/>
            <p:cNvSpPr/>
            <p:nvPr/>
          </p:nvSpPr>
          <p:spPr>
            <a:xfrm>
              <a:off x="0" y="0"/>
              <a:ext cx="12594082" cy="50800"/>
            </a:xfrm>
            <a:custGeom>
              <a:avLst/>
              <a:gdLst/>
              <a:ahLst/>
              <a:cxnLst/>
              <a:rect l="l" t="t" r="r" b="b"/>
              <a:pathLst>
                <a:path w="12594082" h="50800">
                  <a:moveTo>
                    <a:pt x="0" y="0"/>
                  </a:moveTo>
                  <a:lnTo>
                    <a:pt x="12594082" y="0"/>
                  </a:lnTo>
                  <a:lnTo>
                    <a:pt x="12594082" y="50800"/>
                  </a:lnTo>
                  <a:lnTo>
                    <a:pt x="0" y="5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7" r="-1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992238" y="7751864"/>
            <a:ext cx="3843185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A4A4A"/>
                </a:solidFill>
                <a:latin typeface="DM Sans Bold"/>
                <a:ea typeface="DM Sans Bold"/>
                <a:cs typeface="DM Sans Bold"/>
                <a:sym typeface="DM Sans Bold"/>
              </a:rPr>
              <a:t>Foundation for Growth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2238" y="8279159"/>
            <a:ext cx="9445523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Strong base for future projects with potential enhancements like file handling and GUI.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599805" y="3855691"/>
            <a:ext cx="7088238" cy="90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7"/>
              </a:lnSpc>
            </a:pPr>
            <a:r>
              <a:rPr lang="en-US" sz="5562" b="1">
                <a:solidFill>
                  <a:srgbClr val="9C5461"/>
                </a:solidFill>
                <a:latin typeface="DM Sans Bold"/>
                <a:ea typeface="DM Sans Bold"/>
                <a:cs typeface="DM Sans Bold"/>
                <a:sym typeface="DM Sans Bold"/>
              </a:rPr>
              <a:t>Thank You </a:t>
            </a:r>
            <a:r>
              <a:rPr lang="en-US" sz="5562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💗</a:t>
            </a:r>
            <a:r>
              <a:rPr lang="en-US" sz="5562" b="1">
                <a:solidFill>
                  <a:srgbClr val="9C5461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5090665"/>
            <a:ext cx="16303523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509</Words>
  <Application>Microsoft Office PowerPoint</Application>
  <PresentationFormat>Custom</PresentationFormat>
  <Paragraphs>108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DM Sans</vt:lpstr>
      <vt:lpstr>Calibri</vt:lpstr>
      <vt:lpstr>DM Sans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Library-Management-System.pptx</dc:title>
  <cp:lastModifiedBy>Keshav Patyal</cp:lastModifiedBy>
  <cp:revision>2</cp:revision>
  <dcterms:created xsi:type="dcterms:W3CDTF">2006-08-16T00:00:00Z</dcterms:created>
  <dcterms:modified xsi:type="dcterms:W3CDTF">2026-04-14T18:43:16Z</dcterms:modified>
  <dc:identifier>DAHG2miVh5M</dc:identifier>
</cp:coreProperties>
</file>